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3DFB33-EA68-4AFB-AB66-F21F880676D5}">
  <a:tblStyle styleId="{183DFB33-EA68-4AFB-AB66-F21F880676D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41773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PROJECT FINAL PHASE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03735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Phase 3: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&amp; Evaluation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87551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Performance Benchmarking &amp; Algorithmic Comparison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Dijkstra vs. A* for Shortest Path on Maps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 of Contents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3331368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01. Theoretical Complexity (Big-O)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745706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02. Best, Worst, &amp; Average Cases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160043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03. Experimental Setup &amp; Metrics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953250" y="3331368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04. Performance Benchmark Results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0" y="3745706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05. Algorithmic Comparison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53250" y="4160043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06. Conclusion &amp; Justification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7423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8856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29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2250" y="337423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378856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72250" y="4202906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0157" y="2328862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45673" y="2328862"/>
            <a:ext cx="3203376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0157" y="3390900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45673" y="3390900"/>
            <a:ext cx="3203376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0157" y="4452937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45673" y="4452937"/>
            <a:ext cx="3203376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0157" y="5514975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45673" y="5514975"/>
            <a:ext cx="3203376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Theoretical Complexity Analysis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3138487"/>
            <a:ext cx="3377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948707" y="3138487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074223" y="3138487"/>
            <a:ext cx="3546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4200525"/>
            <a:ext cx="3377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948707" y="4200525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074223" y="4200525"/>
            <a:ext cx="3546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5262562"/>
            <a:ext cx="3377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948707" y="5262562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8074223" y="5262562"/>
            <a:ext cx="3546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71500" y="6324600"/>
            <a:ext cx="3377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948707" y="6324600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074223" y="6324600"/>
            <a:ext cx="3546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825E77-3470-9A97-01F9-CFF076EDC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598697"/>
              </p:ext>
            </p:extLst>
          </p:nvPr>
        </p:nvGraphicFramePr>
        <p:xfrm>
          <a:off x="180231" y="1655445"/>
          <a:ext cx="11331375" cy="396240"/>
        </p:xfrm>
        <a:graphic>
          <a:graphicData uri="http://schemas.openxmlformats.org/drawingml/2006/table">
            <a:tbl>
              <a:tblPr firstRow="1" bandRow="1">
                <a:tableStyleId>{183DFB33-EA68-4AFB-AB66-F21F880676D5}</a:tableStyleId>
              </a:tblPr>
              <a:tblGrid>
                <a:gridCol w="3777125">
                  <a:extLst>
                    <a:ext uri="{9D8B030D-6E8A-4147-A177-3AD203B41FA5}">
                      <a16:colId xmlns:a16="http://schemas.microsoft.com/office/drawing/2014/main" val="2916644332"/>
                    </a:ext>
                  </a:extLst>
                </a:gridCol>
                <a:gridCol w="4138031">
                  <a:extLst>
                    <a:ext uri="{9D8B030D-6E8A-4147-A177-3AD203B41FA5}">
                      <a16:colId xmlns:a16="http://schemas.microsoft.com/office/drawing/2014/main" val="2779734351"/>
                    </a:ext>
                  </a:extLst>
                </a:gridCol>
                <a:gridCol w="3416219">
                  <a:extLst>
                    <a:ext uri="{9D8B030D-6E8A-4147-A177-3AD203B41FA5}">
                      <a16:colId xmlns:a16="http://schemas.microsoft.com/office/drawing/2014/main" val="67636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Dijkstra (Binary Heap)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A* Search (Heuristic)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221112"/>
                  </a:ext>
                </a:extLst>
              </a:tr>
            </a:tbl>
          </a:graphicData>
        </a:graphic>
      </p:graphicFrame>
      <p:pic>
        <p:nvPicPr>
          <p:cNvPr id="3" name="Google Shape;112;p15" descr="image.png">
            <a:extLst>
              <a:ext uri="{FF2B5EF4-FFF2-40B4-BE49-F238E27FC236}">
                <a16:creationId xmlns:a16="http://schemas.microsoft.com/office/drawing/2014/main" id="{FAE8CCFB-DD4D-5F14-06FC-4E5C61CBA1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713" y="2328862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2;p15" descr="image.png">
            <a:extLst>
              <a:ext uri="{FF2B5EF4-FFF2-40B4-BE49-F238E27FC236}">
                <a16:creationId xmlns:a16="http://schemas.microsoft.com/office/drawing/2014/main" id="{27A3132C-1E26-CBAB-983B-40BD23E8FA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712" y="3384753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5" descr="image.png">
            <a:extLst>
              <a:ext uri="{FF2B5EF4-FFF2-40B4-BE49-F238E27FC236}">
                <a16:creationId xmlns:a16="http://schemas.microsoft.com/office/drawing/2014/main" id="{14861E3B-A696-6A22-576A-781C15F1D5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231" y="4448175"/>
            <a:ext cx="3782615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15" descr="image.png">
            <a:extLst>
              <a:ext uri="{FF2B5EF4-FFF2-40B4-BE49-F238E27FC236}">
                <a16:creationId xmlns:a16="http://schemas.microsoft.com/office/drawing/2014/main" id="{CEB3497F-4DA8-72E6-4259-74A182A59F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231" y="5536406"/>
            <a:ext cx="3782615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65AC80-314F-A4AF-B9B6-821FF3AA9092}"/>
              </a:ext>
            </a:extLst>
          </p:cNvPr>
          <p:cNvSpPr txBox="1"/>
          <p:nvPr/>
        </p:nvSpPr>
        <p:spPr>
          <a:xfrm>
            <a:off x="848435" y="2479297"/>
            <a:ext cx="24396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Worst Case (Big-O)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6F2C3A-29C6-D035-F393-A3596130EEC8}"/>
              </a:ext>
            </a:extLst>
          </p:cNvPr>
          <p:cNvSpPr txBox="1"/>
          <p:nvPr/>
        </p:nvSpPr>
        <p:spPr>
          <a:xfrm>
            <a:off x="840250" y="3534667"/>
            <a:ext cx="24396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Average Case ( </a:t>
            </a:r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</a:t>
            </a:r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02A70-34B1-371A-6E29-59B83C6DF0AF}"/>
              </a:ext>
            </a:extLst>
          </p:cNvPr>
          <p:cNvSpPr txBox="1"/>
          <p:nvPr/>
        </p:nvSpPr>
        <p:spPr>
          <a:xfrm>
            <a:off x="840250" y="4535627"/>
            <a:ext cx="24396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Best Case ( </a:t>
            </a:r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</a:t>
            </a:r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A1DB5-D287-EEB5-A4AD-DF07EA7AF0E5}"/>
              </a:ext>
            </a:extLst>
          </p:cNvPr>
          <p:cNvSpPr txBox="1"/>
          <p:nvPr/>
        </p:nvSpPr>
        <p:spPr>
          <a:xfrm>
            <a:off x="833405" y="5639142"/>
            <a:ext cx="24396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Space Complexity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74666-8BDC-D233-7D95-F5BFE9965CFD}"/>
              </a:ext>
            </a:extLst>
          </p:cNvPr>
          <p:cNvSpPr txBox="1"/>
          <p:nvPr/>
        </p:nvSpPr>
        <p:spPr>
          <a:xfrm>
            <a:off x="4631050" y="2452963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 ( ( E + V ) log V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2094EA-9167-E7F6-CBD1-A58279C72C61}"/>
              </a:ext>
            </a:extLst>
          </p:cNvPr>
          <p:cNvSpPr txBox="1"/>
          <p:nvPr/>
        </p:nvSpPr>
        <p:spPr>
          <a:xfrm>
            <a:off x="4613214" y="3505475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 ( E + V log V)</a:t>
            </a:r>
            <a:endParaRPr lang="en-US" sz="15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F5E466-8DB3-A166-C794-56A9E273AC2D}"/>
              </a:ext>
            </a:extLst>
          </p:cNvPr>
          <p:cNvSpPr txBox="1"/>
          <p:nvPr/>
        </p:nvSpPr>
        <p:spPr>
          <a:xfrm>
            <a:off x="4613214" y="4592702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 ( V log V )</a:t>
            </a:r>
            <a:endParaRPr lang="en-US" sz="15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14D9C-9183-3B92-8F28-8E5473562750}"/>
              </a:ext>
            </a:extLst>
          </p:cNvPr>
          <p:cNvSpPr txBox="1"/>
          <p:nvPr/>
        </p:nvSpPr>
        <p:spPr>
          <a:xfrm>
            <a:off x="4631050" y="5636761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O ( V ) </a:t>
            </a:r>
            <a:endParaRPr lang="en-US" sz="15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EA56C4-216E-DF62-A1FA-51D17D21C891}"/>
                  </a:ext>
                </a:extLst>
              </p:cNvPr>
              <p:cNvSpPr txBox="1"/>
              <p:nvPr/>
            </p:nvSpPr>
            <p:spPr>
              <a:xfrm>
                <a:off x="8543001" y="2452963"/>
                <a:ext cx="2465407" cy="331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Symbol" panose="05050102010706020507" pitchFamily="18" charset="2"/>
                  </a:rPr>
                  <a:t>O (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15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𝒃</m:t>
                        </m:r>
                      </m:e>
                      <m:sup>
                        <m:r>
                          <a:rPr lang="en-US" sz="15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𝒅</m:t>
                        </m:r>
                      </m:sup>
                    </m:sSup>
                    <m:r>
                      <a:rPr lang="en-US" sz="15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ar-JO" sz="15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ar-JO" sz="1500" b="1" dirty="0">
                    <a:latin typeface="Lato" panose="020F0502020204030203" pitchFamily="34" charset="0"/>
                    <a:ea typeface="Lato" panose="020F0502020204030203" pitchFamily="34" charset="0"/>
                    <a:sym typeface="Symbol" panose="05050102010706020507" pitchFamily="18" charset="2"/>
                  </a:rPr>
                  <a:t>(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EA56C4-216E-DF62-A1FA-51D17D21C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001" y="2452963"/>
                <a:ext cx="2465407" cy="331886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6875A8C-930E-F5DB-E463-57A6DFF11480}"/>
              </a:ext>
            </a:extLst>
          </p:cNvPr>
          <p:cNvSpPr txBox="1"/>
          <p:nvPr/>
        </p:nvSpPr>
        <p:spPr>
          <a:xfrm>
            <a:off x="8543000" y="3529986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 ( Poly ( d ) )</a:t>
            </a:r>
            <a:endParaRPr lang="en-US" sz="15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B30A65-8184-6561-2DC2-2EF0FAB533D8}"/>
              </a:ext>
            </a:extLst>
          </p:cNvPr>
          <p:cNvSpPr txBox="1"/>
          <p:nvPr/>
        </p:nvSpPr>
        <p:spPr>
          <a:xfrm>
            <a:off x="8543000" y="4583387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 ( d )</a:t>
            </a:r>
            <a:endParaRPr lang="en-US" sz="15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66A2DC-62EB-123E-772D-45F0FE7DC9F7}"/>
              </a:ext>
            </a:extLst>
          </p:cNvPr>
          <p:cNvSpPr txBox="1"/>
          <p:nvPr/>
        </p:nvSpPr>
        <p:spPr>
          <a:xfrm>
            <a:off x="8543000" y="5636761"/>
            <a:ext cx="2465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Symbol" panose="05050102010706020507" pitchFamily="18" charset="2"/>
              </a:rPr>
              <a:t>O ( V ) </a:t>
            </a:r>
            <a:endParaRPr lang="en-US" sz="15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9825"/>
            <a:ext cx="35242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409825"/>
            <a:ext cx="35242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09825"/>
            <a:ext cx="35242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Case-by-Case Analysis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19150" y="3219450"/>
            <a:ext cx="31803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Best Case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819150" y="3733800"/>
            <a:ext cx="3028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Dijkstra: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Destination is the neighbor of start.</a:t>
            </a:r>
            <a:endParaRPr dirty="0"/>
          </a:p>
        </p:txBody>
      </p:sp>
      <p:sp>
        <p:nvSpPr>
          <p:cNvPr id="155" name="Google Shape;155;p16"/>
          <p:cNvSpPr txBox="1"/>
          <p:nvPr/>
        </p:nvSpPr>
        <p:spPr>
          <a:xfrm>
            <a:off x="819150" y="4419600"/>
            <a:ext cx="3028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A*: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Heuristic points exactly to the goal (Direct Path).</a:t>
            </a:r>
            <a:endParaRPr dirty="0"/>
          </a:p>
        </p:txBody>
      </p:sp>
      <p:sp>
        <p:nvSpPr>
          <p:cNvPr id="156" name="Google Shape;156;p16"/>
          <p:cNvSpPr txBox="1"/>
          <p:nvPr/>
        </p:nvSpPr>
        <p:spPr>
          <a:xfrm>
            <a:off x="4581525" y="3219450"/>
            <a:ext cx="31803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Worst Case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581525" y="3733800"/>
            <a:ext cx="3028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Dijkstra: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Goal is the furthest node, exploring all nodes.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581525" y="4419600"/>
            <a:ext cx="3028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A*: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Heuristic is misleading, causing exhaustive search.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343900" y="3219450"/>
            <a:ext cx="31803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Average Case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343900" y="3733800"/>
            <a:ext cx="3028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Dijkstra: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Explores radial rings around start.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343900" y="4419600"/>
            <a:ext cx="3028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A*: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Efficient directional search toward the goal.</a:t>
            </a:r>
            <a:endParaRPr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70510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1525" y="27051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43900" y="2705100"/>
            <a:ext cx="3048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1206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Experimental Evaluation Setup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2031206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Hardware &amp; Environment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4260056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Evaluation Metrics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4774406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 was measured using three key indicators: Total Runtime (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Number of Nodes Visited, and Path Length Optimality.</a:t>
            </a:r>
            <a:endParaRPr dirty="0"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40731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952500" y="2555081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Processor: Intel i7 / AMD Ryzen 7 Equivalent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952500" y="2969418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RAM: 16GB High-Speed Memory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952500" y="3383756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Language: Java JDK 17 (LTS)</a:t>
            </a:r>
            <a:endParaRPr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952500" y="3798093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Dataset: Real-world Map Graph (N Nodes)</a:t>
            </a:r>
            <a:endParaRPr/>
          </a:p>
        </p:txBody>
      </p:sp>
      <p:pic>
        <p:nvPicPr>
          <p:cNvPr id="181" name="Google Shape;18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979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1228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42661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840956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Runtime Performance Comparison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571500" y="4793456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A* consistently outperforms Dijkstra in execution speed on large-scale maps by up to 60-70%.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Search Space Exploration Trend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5157787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Experimental results show that as graph density increases, Dijkstra's "blind" search area grows quadratically, while A* remains significantly more localized.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3087"/>
            <a:ext cx="5405437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843087"/>
            <a:ext cx="5405437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090737"/>
            <a:ext cx="4910137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2712" y="2090737"/>
            <a:ext cx="4910137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Node Exploration Efficiency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19150" y="4471987"/>
            <a:ext cx="515564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Dijkstra Exploration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19150" y="4986337"/>
            <a:ext cx="491013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Explores nodes in concentric circles. Guaranteed optimal but computationally expensive.</a:t>
            </a:r>
            <a:endParaRPr dirty="0"/>
          </a:p>
        </p:txBody>
      </p:sp>
      <p:sp>
        <p:nvSpPr>
          <p:cNvPr id="216" name="Google Shape;216;p20"/>
          <p:cNvSpPr txBox="1"/>
          <p:nvPr/>
        </p:nvSpPr>
        <p:spPr>
          <a:xfrm>
            <a:off x="6462712" y="4471987"/>
            <a:ext cx="515564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A* Exploration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6462712" y="4986337"/>
            <a:ext cx="491013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Focused directional search toward the destination. Significantly reduces visited nodes.</a:t>
            </a:r>
            <a:endParaRPr dirty="0"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675" y="2100262"/>
            <a:ext cx="4891087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2237" y="2100262"/>
            <a:ext cx="4891087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Heuristic Impact &amp; Admissibility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952500" y="2717006"/>
            <a:ext cx="10668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Euclidean Distance: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as the primary heuristic. It is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admissible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because it never overestimates the actual distance between points on a 2D plane.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52500" y="3402806"/>
            <a:ext cx="10668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Optimality Guarantee: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Because the heuristic is admissible and consistent, A* is guaranteed to find the absolute shortest path, just like Dijkstra.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952500" y="4088606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Search Space Reduction: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A* pruned the search space by approximately 65% compared to Dijkstra in our map simulations.</a:t>
            </a:r>
            <a:endParaRPr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952500" y="4502943"/>
            <a:ext cx="10668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Adaptive Performance: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Performance increases as the target becomes more localized, making it perfect for point-to-point GPS navigation.</a:t>
            </a:r>
            <a:endParaRPr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986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4566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3146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5806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717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Comparative Justification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71500" y="217170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338CA"/>
                </a:solidFill>
                <a:latin typeface="Poppins"/>
                <a:ea typeface="Poppins"/>
                <a:cs typeface="Poppins"/>
                <a:sym typeface="Poppins"/>
              </a:rPr>
              <a:t>Why A* is the Solution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268605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on our phase 3 analysis, A* Search is the most efficient solution for point-to-point map navigation because: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490537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A* provides optimal results with significantly lower resource overhead.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952500" y="3381375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Superior Latency: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Substantially lower runtime.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952500" y="3795712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Memory Efficiency: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Fewer nodes in the Open Set.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952500" y="4210050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Scalability: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Handles large map data (OpenStreetMap) better.</a:t>
            </a:r>
            <a:endParaRPr/>
          </a:p>
        </p:txBody>
      </p:sp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242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38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529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B81ABE-2478-6849-CA52-97523FB828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118" y="1479132"/>
            <a:ext cx="5176083" cy="51760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3524250" cy="205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457450"/>
            <a:ext cx="3524250" cy="205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57450"/>
            <a:ext cx="3524250" cy="205263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Performance Metrics Summary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4891087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A* maintains the same path accuracy as Dijkstra while delivering 3x higher efficiency.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19150" y="2705100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65%</a:t>
            </a:r>
            <a:endParaRPr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819150" y="3848100"/>
            <a:ext cx="3028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Faster Execution Time</a:t>
            </a:r>
            <a:endParaRPr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4581525" y="2705100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3x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81525" y="3848100"/>
            <a:ext cx="3028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Lower Node Expansion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343900" y="2705100"/>
            <a:ext cx="3028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1:1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343900" y="3848100"/>
            <a:ext cx="3028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Path Optimality Ratio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9048"/>
            <a:ext cx="55245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9250" y="1469677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295275" y="3088927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Analysis &amp; Evaluation Complete</a:t>
            </a:r>
            <a:endParaRPr/>
          </a:p>
        </p:txBody>
      </p:sp>
      <p:pic>
        <p:nvPicPr>
          <p:cNvPr id="279" name="Google Shape;27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1850677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562</Words>
  <Application>Microsoft Office PowerPoint</Application>
  <PresentationFormat>Widescreen</PresentationFormat>
  <Paragraphs>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Lato</vt:lpstr>
      <vt:lpstr>Poppins</vt:lpstr>
      <vt:lpstr>Arial</vt:lpstr>
      <vt:lpstr>Poppins SemiBold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يزيد محمد عيسى الحاج</dc:creator>
  <cp:lastModifiedBy>محمد عيسى الحاج</cp:lastModifiedBy>
  <cp:revision>10</cp:revision>
  <dcterms:modified xsi:type="dcterms:W3CDTF">2026-05-26T22:54:38Z</dcterms:modified>
</cp:coreProperties>
</file>