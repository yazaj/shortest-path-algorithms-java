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JetBrains Mono" panose="020B0604020202020204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7A3B35-1493-4C36-AF3B-7FFEB89DCAEB}">
  <a:tblStyle styleId="{7B7A3B35-1493-4C36-AF3B-7FFEB89DCA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345233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ALGORITHM DESIGN &amp; IMPLEMENTATION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825204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Phase 2 — Algo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38550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Algorithm Design &amp; Implementation (Shortest Path on Maps)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Pathfinding Algorithm Comparison (Dijkstra vs A*)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0508"/>
            <a:ext cx="5286375" cy="248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40508"/>
            <a:ext cx="5286375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 of Contents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247775" y="3088183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Phase 2 Overview &amp; Deliverables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47775" y="3520529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Map Graph Data Structure Design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47775" y="3952875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Dijkstra: Pseudocode &amp; Key Steps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47775" y="4385220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Dijkstra: Java Implementation Highlights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10400" y="3088183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 A*: Pseudocode, Heuristic &amp; Key Steps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010400" y="3520529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6. A*: Java Implementation Highlights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010400" y="3952875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7. User Input &amp; Output Display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10400" y="4385220"/>
            <a:ext cx="43148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8. Test Cases &amp; Wrap-up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1310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5633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995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42808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1310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5633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995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42808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9919"/>
            <a:ext cx="5405437" cy="30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689919"/>
            <a:ext cx="5405437" cy="303430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2 Objectives and Deliverables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03849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Implement and compare Dijkstra vs A* for shortest path on a map graph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19150" y="3499544"/>
            <a:ext cx="515564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462712" y="3499544"/>
            <a:ext cx="515564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Deliverables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98519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2712" y="298519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200150" y="4023419"/>
            <a:ext cx="4529137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 and implement both algorithms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00150" y="4455765"/>
            <a:ext cx="4529137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Write clear pseudocode for Dijkstra and A*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200150" y="4888110"/>
            <a:ext cx="4529137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 using Java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843712" y="4023419"/>
            <a:ext cx="45291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Working shortest-path finder for user-selected start/destination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843712" y="4745235"/>
            <a:ext cx="45291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Outputs shown: shortest path, total distance, execution time, visited nodes count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406628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449862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493097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2712" y="406628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2712" y="4788098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Graph Representation for the Map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1976437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Core Map Elements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3940224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Implementation Strategy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4454574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Representation choice: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Adjacency list (optimized for algorithm efficiency).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5176391"/>
            <a:ext cx="528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Inputs consumed: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Starting point node and Destination node.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952500" y="2500312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Nodes: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map points / intersections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52500" y="2932658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Edges: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road connections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52500" y="3365003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Weights: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travel distances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431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755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407866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Dijkstra — Pseudocode</a:t>
            </a:r>
            <a:endParaRPr dirty="0"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239390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Algorithm Logic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4647158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Designed for finding the shortest path from a single source to all nodes or a specific goal.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52500" y="2917775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Constraint: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Requires non-negative edge weights.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52500" y="3350121"/>
            <a:ext cx="4905375" cy="11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Output Produced: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0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9298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524000" y="3734841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Shortest / optimal path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524000" y="4167187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Total computed distance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B5E4AF-266A-C6BA-6527-0BB631D87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436" y="1111605"/>
            <a:ext cx="4422064" cy="4962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Dijkstra — Java Implementation Highlights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334125" y="2966144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Technical Key Points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715125" y="3490019"/>
            <a:ext cx="5169693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Priority Queue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always process the next nearest node.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6715124" y="3875782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Dynamically updates shortest distances (Relaxation step).</a:t>
            </a:r>
            <a:endParaRPr dirty="0"/>
          </a:p>
        </p:txBody>
      </p:sp>
      <p:sp>
        <p:nvSpPr>
          <p:cNvPr id="184" name="Google Shape;184;p18"/>
          <p:cNvSpPr txBox="1"/>
          <p:nvPr/>
        </p:nvSpPr>
        <p:spPr>
          <a:xfrm>
            <a:off x="6715124" y="4311335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Guaranteed to find the optimal shortest path.</a:t>
            </a:r>
            <a:endParaRPr dirty="0"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53288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6522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397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E07ED-28A2-47C0-6342-272AF65D1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273" y="1160168"/>
            <a:ext cx="3729035" cy="51263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7230"/>
            <a:ext cx="5286375" cy="11809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A* — Pseudocode (Heuristic-Guided)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233288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Search Heuristics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3037730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f(n) = g(n) + h(n)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62000" y="3451026"/>
            <a:ext cx="4905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g(n): actual cost | h(n): estimated cost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52500" y="4266307"/>
            <a:ext cx="4905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Heuristic Role: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Guides search toward destination while preserving optimality.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52500" y="4988123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Constraint: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Requires an admissible heuristic.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91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309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12FE33-B41B-25BC-1877-A201BCB21F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6601" y="898423"/>
            <a:ext cx="3883399" cy="53880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A* — Java Implementation Highlights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334125" y="2966144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Efficiency Comparison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715125" y="3490019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heuristic function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focus the search toward the goal.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715125" y="3922365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Significantly faster than Dijkstra in many navigation cases.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715125" y="4354710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Finds the optimal path efficiently with fewer node visits.</a:t>
            </a:r>
            <a:endParaRPr/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5328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652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397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A9AEEB-809B-17F2-A917-48961D3EC4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427423"/>
            <a:ext cx="5407818" cy="49898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9907"/>
            <a:ext cx="3524250" cy="258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89907"/>
            <a:ext cx="3524250" cy="258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589907"/>
            <a:ext cx="3524250" cy="2582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Input Handling and Result Display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819150" y="3399532"/>
            <a:ext cx="31803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User Inputs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19150" y="3913882"/>
            <a:ext cx="3028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 requests Starting point and Destination from the user.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581525" y="3399532"/>
            <a:ext cx="31803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System Behavior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4581525" y="3913882"/>
            <a:ext cx="3028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Runs Dijkstra and A* on the same graph to collect comparative metrics.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343900" y="3399532"/>
            <a:ext cx="31803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Display Outputs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343900" y="3913882"/>
            <a:ext cx="30289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Shows Shortest path, Total distance, Execution time, and Visited nodes count.</a:t>
            </a:r>
            <a:endParaRPr/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88518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288518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288518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 Cases &amp; Validation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2"/>
          <p:cNvGraphicFramePr/>
          <p:nvPr>
            <p:extLst>
              <p:ext uri="{D42A27DB-BD31-4B8C-83A1-F6EECF244321}">
                <p14:modId xmlns:p14="http://schemas.microsoft.com/office/powerpoint/2010/main" val="4005995314"/>
              </p:ext>
            </p:extLst>
          </p:nvPr>
        </p:nvGraphicFramePr>
        <p:xfrm>
          <a:off x="571500" y="2211883"/>
          <a:ext cx="11049000" cy="2386600"/>
        </p:xfrm>
        <a:graphic>
          <a:graphicData uri="http://schemas.openxmlformats.org/drawingml/2006/table">
            <a:tbl>
              <a:tblPr firstRow="1" bandRow="1">
                <a:noFill/>
                <a:tableStyleId>{7B7A3B35-1493-4C36-AF3B-7FFEB89DCAEB}</a:tableStyleId>
              </a:tblPr>
              <a:tblGrid>
                <a:gridCol w="173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Poppins SemiBold" panose="00000700000000000000" pitchFamily="2" charset="0"/>
                          <a:ea typeface="Lato"/>
                          <a:cs typeface="Poppins SemiBold" panose="00000700000000000000" pitchFamily="2" charset="0"/>
                          <a:sym typeface="Lato"/>
                        </a:rPr>
                        <a:t>Start Node</a:t>
                      </a:r>
                      <a:endParaRPr dirty="0">
                        <a:latin typeface="Poppins SemiBold" panose="00000700000000000000" pitchFamily="2" charset="0"/>
                        <a:cs typeface="Poppins SemiBold" panose="000007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Poppins SemiBold" panose="00000700000000000000" pitchFamily="2" charset="0"/>
                          <a:ea typeface="Lato"/>
                          <a:cs typeface="Poppins SemiBold" panose="00000700000000000000" pitchFamily="2" charset="0"/>
                          <a:sym typeface="Lato"/>
                        </a:rPr>
                        <a:t>Destination</a:t>
                      </a:r>
                      <a:endParaRPr dirty="0">
                        <a:latin typeface="Poppins SemiBold" panose="00000700000000000000" pitchFamily="2" charset="0"/>
                        <a:cs typeface="Poppins SemiBold" panose="000007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Poppins SemiBold" panose="00000700000000000000" pitchFamily="2" charset="0"/>
                          <a:ea typeface="Lato"/>
                          <a:cs typeface="Poppins SemiBold" panose="00000700000000000000" pitchFamily="2" charset="0"/>
                          <a:sym typeface="Lato"/>
                        </a:rPr>
                        <a:t>Dijkstra Shortest Path</a:t>
                      </a:r>
                      <a:endParaRPr>
                        <a:latin typeface="Poppins SemiBold" panose="00000700000000000000" pitchFamily="2" charset="0"/>
                        <a:cs typeface="Poppins SemiBold" panose="000007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Poppins SemiBold" panose="00000700000000000000" pitchFamily="2" charset="0"/>
                          <a:ea typeface="Lato"/>
                          <a:cs typeface="Poppins SemiBold" panose="00000700000000000000" pitchFamily="2" charset="0"/>
                          <a:sym typeface="Lato"/>
                        </a:rPr>
                        <a:t>A* Shortest Path</a:t>
                      </a:r>
                      <a:endParaRPr>
                        <a:latin typeface="Poppins SemiBold" panose="00000700000000000000" pitchFamily="2" charset="0"/>
                        <a:cs typeface="Poppins SemiBold" panose="000007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Poppins SemiBold" panose="00000700000000000000" pitchFamily="2" charset="0"/>
                          <a:ea typeface="Lato"/>
                          <a:cs typeface="Poppins SemiBold" panose="00000700000000000000" pitchFamily="2" charset="0"/>
                          <a:sym typeface="Lato"/>
                        </a:rPr>
                        <a:t>Total Distance</a:t>
                      </a:r>
                      <a:endParaRPr dirty="0">
                        <a:latin typeface="Poppins SemiBold" panose="00000700000000000000" pitchFamily="2" charset="0"/>
                        <a:cs typeface="Poppins SemiBold" panose="000007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→ C → 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→ C → 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 → 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 → 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 → B →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 → B →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7" name="Google Shape;247;p22"/>
          <p:cNvSpPr/>
          <p:nvPr/>
        </p:nvSpPr>
        <p:spPr>
          <a:xfrm>
            <a:off x="571500" y="3414712"/>
            <a:ext cx="1731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2302519" y="3414712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4128194" y="3414712"/>
            <a:ext cx="3015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7143898" y="3414712"/>
            <a:ext cx="236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510563" y="3414712"/>
            <a:ext cx="2109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3999458"/>
            <a:ext cx="1731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302519" y="3999458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128194" y="3999458"/>
            <a:ext cx="3015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7143898" y="3999458"/>
            <a:ext cx="236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510563" y="3999458"/>
            <a:ext cx="2109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71500" y="4584203"/>
            <a:ext cx="1731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2302519" y="4584203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4128194" y="4584203"/>
            <a:ext cx="3015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7143898" y="4584203"/>
            <a:ext cx="236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9510563" y="4584203"/>
            <a:ext cx="2109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872" y="5050928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728509" y="5036641"/>
            <a:ext cx="162140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Validation Results:</a:t>
            </a:r>
            <a:endParaRPr dirty="0"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6334" y="5050928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6319684" y="5050928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Efficiency Note: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85144"/>
            <a:ext cx="5286375" cy="259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 Cases and Key Implementation Points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571500" y="2966144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Verification Metrics</a:t>
            </a:r>
            <a:endParaRPr dirty="0"/>
          </a:p>
        </p:txBody>
      </p:sp>
      <p:sp>
        <p:nvSpPr>
          <p:cNvPr id="275" name="Google Shape;275;p23"/>
          <p:cNvSpPr txBox="1"/>
          <p:nvPr/>
        </p:nvSpPr>
        <p:spPr>
          <a:xfrm>
            <a:off x="6581775" y="3547169"/>
            <a:ext cx="47910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Phase 2 Delivery: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Java implementations + pseudocode + user I/O + correctness tests for Dijkstra vs A*.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581775" y="4558456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D28D9"/>
                </a:solidFill>
                <a:latin typeface="Lato"/>
                <a:ea typeface="Lato"/>
                <a:cs typeface="Lato"/>
                <a:sym typeface="Lato"/>
              </a:rPr>
              <a:t>Consistency verified across different start/destination selections.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952500" y="3490019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Monitoring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execution time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 test.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952500" y="3922365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Tracking the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number of visited nodes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952500" y="4354710"/>
            <a:ext cx="4905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Ensuring efficiency in finding shortest path.</a:t>
            </a:r>
            <a:endParaRPr/>
          </a:p>
        </p:txBody>
      </p:sp>
      <p:pic>
        <p:nvPicPr>
          <p:cNvPr id="280" name="Google Shape;28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7275" y="2880419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3288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652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9757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530</Words>
  <Application>Microsoft Office PowerPoint</Application>
  <PresentationFormat>Widescreen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Lato</vt:lpstr>
      <vt:lpstr>Poppins</vt:lpstr>
      <vt:lpstr>Arial</vt:lpstr>
      <vt:lpstr>Poppins SemiBold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يزيد محمد عيسى الحاج</dc:creator>
  <cp:lastModifiedBy>محمد عيسى الحاج</cp:lastModifiedBy>
  <cp:revision>6</cp:revision>
  <dcterms:modified xsi:type="dcterms:W3CDTF">2026-05-26T22:54:55Z</dcterms:modified>
</cp:coreProperties>
</file>